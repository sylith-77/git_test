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제공된 자료를 부모교육 발표용으로 재구성했습니다. 융의 개념을 양육에 적용한 교육적 해석이며, 융의 직접 인용문은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융은 의식뿐 아니라 무의식이 생각과 행동에 영향을 준다고 보았습니다. 아이의 모든 행동을 무의식 때문이라고 단정하지 않고, 행동의 맥락을 살펴봅니다.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열거한 감정과 욕구는 가능한 예시입니다. 아이에게 직접 묻고 상황을 확인하며, 원인을 성급하게 단정하지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페르소나는 사회생활에 필요한 역할이기도 합니다. 특정 역할만 지나치게 요구할 때 아이의 다른 감정과 모습이 가려질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항상 착해야 한다는 기대가 감정 표현을 막고 있지는 않은지 돌아봅니다. 역할을 수행하는 것과 감정을 숨기는 것을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그림자는 부정적인 감정만을 뜻하지 않고, 자신이 받아들이지 못한 여러 측면을 포함합니다. 이 발표에서는 부모교육과 관련된 감정을 중심으로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감정 수용과 행동의 경계 설정은 제공 자료의 실천 원칙입니다. 상황이 진정되면 감정을 말로 표현하거나 잠시 쉬는 등 대안을 함께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개성화는 단순히 남과 다른 특성을 갖는 것이 아니라 의식과 무의식의 여러 측면을 통합해 가는 과정입니다. 아동 양육에서는 고유한 성향을 존중하는 태도로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부모와 자녀는 서로 영향을 주고받습니다. 아이의 독립성을 존중하면서도 발달 수준에 맞는 돌봄과 경계를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제공 자료는 부모의 이루지 못한 욕구와 기대가 아이에게 향하는 사례를 투사와 연결합니다. 엄밀히는 투사는 자신의 심리 내용을 타인의 것으로 경험하는 과정이며, 모든 기대가 투사인 것은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제공 자료의 핵심을 실천 문장으로 재구성한 정리입니다.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문장은 제공 자료의 핵심 문장을 재구성한 것입니다. 융의 직접 인용이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PARENT EDUCATION  /  CARL GUSTAV JUNG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아이의 마음을 이해하는</a:t>
            </a:r>
          </a:p>
          <a:p>
            <a:pPr>
              <a:spcAft>
                <a:spcPts val="600"/>
              </a:spcAft>
              <a:defRPr sz="48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부모의 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058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칼 구스타프 융의 분석심리학과 부모교육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109728" cy="685800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919472"/>
            <a:ext cx="10058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자기답게 자라는 아이 · 함께 성장하는 부모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01  /  분석심리학의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마음에는 보이는 부분과</a:t>
            </a:r>
          </a:p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보이지 않는 부분이 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166360" cy="242316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45720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51960"/>
            <a:ext cx="4572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내가 알고 있는 생각과 감정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926080"/>
            <a:ext cx="5166360" cy="2423160"/>
          </a:xfrm>
          <a:prstGeom prst="rect">
            <a:avLst/>
          </a:prstGeom>
          <a:solidFill>
            <a:srgbClr val="EA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3246120"/>
            <a:ext cx="45720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무의식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4251960"/>
            <a:ext cx="4572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스스로 알아차리지 못한 마음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01  /  부모교육으로 연결하기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274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부모의 역할은</a:t>
            </a:r>
          </a:p>
          <a:p>
            <a:pPr>
              <a:spcAft>
                <a:spcPts val="600"/>
              </a:spcAft>
              <a:defRPr sz="40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아이가 자기 자신을 발견하고</a:t>
            </a:r>
          </a:p>
          <a:p>
            <a:pPr>
              <a:spcAft>
                <a:spcPts val="600"/>
              </a:spcAft>
              <a:defRPr sz="40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성장하도록 돕는 것입니다.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058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부모의 기대보다, 아이의 고유한 가능성을 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02  /  의식과 무의식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행동 뒤에 있는 마음을 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10607040" cy="118872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9875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겉으로 보이는 행동: 짜증 · 고집 · 침묵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05072"/>
            <a:ext cx="987552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그 안의 마음은 어떨까요?</a:t>
            </a:r>
          </a:p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속상함 · 불안 · 피곤함 · 인정받고 싶은 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02  /  부모의 말 바꾸기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평가에서 호기심으로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4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“왜 또 말을 안 듣니?”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91440" cy="1645920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30752"/>
            <a:ext cx="1005840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“무슨 일이 있었어?”</a:t>
            </a:r>
          </a:p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“어떤 마음이 들었니?”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03  /  페르소나 ·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밖에서 보여주는 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7899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페르소나는 사회 속에서 보여주는 모습입니다.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520440"/>
            <a:ext cx="3520440" cy="192024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30175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학교에서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6280"/>
            <a:ext cx="3017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착한 아이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520440"/>
            <a:ext cx="3520440" cy="192024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794760"/>
            <a:ext cx="30175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친구들 앞에서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3017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재미있는 아이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520440"/>
            <a:ext cx="3520440" cy="192024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794760"/>
            <a:ext cx="30175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부모 앞에서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526280"/>
            <a:ext cx="3017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모범적인 아이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03  /  페르소나 · 부모의 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착한 모습 뒤의 마음도 살핍니다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“착해야 해.”  “형이니까 참아야 해.”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10515600" cy="155448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041648"/>
            <a:ext cx="9875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“혹시 참고 있는 마음이 있니?”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04  /  그림자 · SHADOW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받아들이기 어려운 나의 모습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60704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3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그림자는 인정하기 어렵거나</a:t>
            </a:r>
          </a:p>
          <a:p>
            <a:pPr>
              <a:spcAft>
                <a:spcPts val="600"/>
              </a:spcAft>
              <a:defRPr sz="33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감추고 싶은 자신의 모습입니다.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69080"/>
            <a:ext cx="10515600" cy="1280160"/>
          </a:xfrm>
          <a:prstGeom prst="rect">
            <a:avLst/>
          </a:prstGeom>
          <a:solidFill>
            <a:srgbClr val="EA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370832"/>
            <a:ext cx="9875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화 · 질투 · 두려움도 이해할 마음입니다.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04  /  감정 수용과 행동의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감정은 인정하고, 행동에는 경계를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5212080" cy="228600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감정 인정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572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“화가 났구나.”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5212080" cy="2286000"/>
          </a:xfrm>
          <a:prstGeom prst="rect">
            <a:avLst/>
          </a:prstGeom>
          <a:solidFill>
            <a:srgbClr val="EA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788920"/>
            <a:ext cx="457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행동의 경계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47872"/>
            <a:ext cx="45720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“하지만 사람을</a:t>
            </a:r>
          </a:p>
          <a:p>
            <a:pPr>
              <a:spcAft>
                <a:spcPts val="600"/>
              </a:spcAft>
              <a:defRPr sz="29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때리는 건 안 돼.”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6070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감정을 없애기보다, 이해하고 조절하도록 돕습니다.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05  /  개성화 · INDIVIDUATION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아이는 부모와 다른 사람입니다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개성화: 자신의 여러 모습을 이해하고 통합하여</a:t>
            </a:r>
          </a:p>
          <a:p>
            <a:pPr>
              <a:spcAft>
                <a:spcPts val="600"/>
              </a:spcAft>
              <a:defRPr sz="30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자기만의 고유한 인격을 형성하는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69080"/>
            <a:ext cx="91440" cy="1143000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9875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다름은 고쳐야 할 문제가 아닙니다.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05  /  개성을 존중하는 양육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같은 길보다, 아이에게 맞는 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607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부모는 공부를 좋아해도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070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아이는 운동을 좋아할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607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부모는 외향적이어도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아이는 혼자 있는 시간이 필요할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06  /  부모·자녀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서로 독립된 인격체로 존중합니다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존중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85953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서로 다른 생각과 성향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828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성찰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55848"/>
            <a:ext cx="85953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아이에게 영향을 주는 부모의 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79976"/>
            <a:ext cx="1828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379976"/>
            <a:ext cx="85953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자기 삶을 만들어 갈 안전한 관계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07  /  부모의 투사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아이에게 내 기대를 겹쳐 보고 있나요?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“나는 공부를 못했으니까 너만큼은…”</a:t>
            </a:r>
          </a:p>
          <a:p>
            <a:pPr>
              <a:spcAft>
                <a:spcPts val="600"/>
              </a:spcAft>
              <a:defRPr sz="28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“나는 소심했으니까 너는 적극적이어야…”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96512"/>
            <a:ext cx="10515600" cy="1325880"/>
          </a:xfrm>
          <a:prstGeom prst="rect">
            <a:avLst/>
          </a:prstGeom>
          <a:solidFill>
            <a:srgbClr val="E4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370832"/>
            <a:ext cx="9921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부모의 아쉬움이 아이의 과제가 될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07  /  부모 자신에게 묻기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“이것은 아이가 원하는 것인가,</a:t>
            </a:r>
          </a:p>
          <a:p>
            <a:pPr>
              <a:spcAft>
                <a:spcPts val="600"/>
              </a:spcAft>
              <a:defRPr sz="40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아니면 내가 원하는 것인가?”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4241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요구하기 전에 내 감정과 기대를 알아차립니다.</a:t>
            </a:r>
          </a:p>
          <a:p>
            <a:pPr>
              <a:spcAft>
                <a:spcPts val="600"/>
              </a:spcAft>
              <a:defRPr sz="29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아이의 생각을 직접 들어봅니다.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08  /  오늘부터 실천할 세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멈추고 · 묻고 · 돌아봅니다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0736A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01  멈추기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86000"/>
            <a:ext cx="76809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행동만으로 아이를 판단하지 않기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64991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02  묻기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64991"/>
            <a:ext cx="76809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“지금 어떤 마음이니?”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3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03  돌아보기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443983"/>
            <a:ext cx="76809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183F36"/>
                </a:solidFill>
                <a:latin typeface="Noto Sans CJK KR"/>
              </a:defRPr>
            </a:pPr>
            <a:r>
              <a:rPr>
                <a:ea typeface="Noto Sans CJK KR"/>
              </a:rPr>
              <a:t>“내 기대를 아이에게 요구하고 있나?”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부모교육의 핵심 메시지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B2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융의 분석심리학과 부모교육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55664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28A52"/>
                </a:solidFill>
                <a:latin typeface="Noto Sans CJK KR"/>
              </a:defRPr>
            </a:pPr>
            <a:r>
              <a:rPr>
                <a:ea typeface="Noto Sans CJK KR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39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아이를 바꾸기 전에</a:t>
            </a:r>
          </a:p>
          <a:p>
            <a:pPr>
              <a:spcAft>
                <a:spcPts val="600"/>
              </a:spcAft>
              <a:defRPr sz="39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아이를 이해하고,</a:t>
            </a:r>
          </a:p>
          <a:p>
            <a:pPr>
              <a:spcAft>
                <a:spcPts val="600"/>
              </a:spcAft>
              <a:defRPr sz="39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아이를 이해하기 전에</a:t>
            </a:r>
          </a:p>
          <a:p>
            <a:pPr>
              <a:spcAft>
                <a:spcPts val="600"/>
              </a:spcAft>
              <a:defRPr sz="3900" b="1">
                <a:solidFill>
                  <a:srgbClr val="F5F2E9"/>
                </a:solidFill>
                <a:latin typeface="Noto Sans CJK KR"/>
              </a:defRPr>
            </a:pPr>
            <a:r>
              <a:rPr>
                <a:ea typeface="Noto Sans CJK KR"/>
              </a:rPr>
              <a:t>부모 자신의 마음도 돌아봅니다.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100584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E4E9DF"/>
                </a:solidFill>
                <a:latin typeface="Noto Sans CJK KR"/>
              </a:defRPr>
            </a:pPr>
            <a:r>
              <a:rPr>
                <a:ea typeface="Noto Sans CJK KR"/>
              </a:rPr>
              <a:t>자기답게 자라는 아이 곁에, 이해하고 지지하는 부모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칼 구스타프 융의 분석심리학과 부모교육</dc:title>
  <dc:subject>아이의 마음을 이해하는 부모의 시선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